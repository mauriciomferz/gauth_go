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4" Type="http://schemas.openxmlformats.org/officeDocument/2006/relationships/slide" Target="slides/slide53.xml" /><Relationship Id="rId55" Type="http://schemas.openxmlformats.org/officeDocument/2006/relationships/slide" Target="slides/slide54.xml" /><Relationship Id="rId57" Type="http://schemas.openxmlformats.org/officeDocument/2006/relationships/viewProps" Target="viewProps.xml" /><Relationship Id="rId5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59" Type="http://schemas.openxmlformats.org/officeDocument/2006/relationships/tableStyles" Target="tableStyles.xml" /><Relationship Id="rId5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github.com/mauriciomferz/Gauth_go" TargetMode="External" 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GAuth Subscription Flow Architecture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RFC-0111 Implementation vs. Industry Standards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Comparing GAuth with Azure AD, Okta, and AWS IAM</a:t>
            </a:r>
          </a:p>
          <a:p>
            <a:pPr lvl="0" indent="0" marL="0">
              <a:buNone/>
            </a:pPr>
            <a:r>
              <a:rPr/>
              <a:t>Mauricio Fernandez</a:t>
            </a:r>
            <a:br/>
            <a:r>
              <a:rPr/>
              <a:t>November 16, 2025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Table of 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Executive Summary</a:t>
            </a:r>
          </a:p>
          <a:p>
            <a:pPr lvl="0" indent="-342900" marL="342900">
              <a:buAutoNum type="arabicPeriod"/>
            </a:pPr>
            <a:r>
              <a:rPr/>
              <a:t>GAuth RFC-0111 Subscription Flow</a:t>
            </a:r>
          </a:p>
          <a:p>
            <a:pPr lvl="0" indent="-342900" marL="342900">
              <a:buAutoNum type="arabicPeriod"/>
            </a:pPr>
            <a:r>
              <a:rPr/>
              <a:t>Azure AD/Entra Comparison</a:t>
            </a:r>
          </a:p>
          <a:p>
            <a:pPr lvl="0" indent="-342900" marL="342900">
              <a:buAutoNum type="arabicPeriod"/>
            </a:pPr>
            <a:r>
              <a:rPr/>
              <a:t>Okta Comparison</a:t>
            </a:r>
          </a:p>
          <a:p>
            <a:pPr lvl="0" indent="-342900" marL="342900">
              <a:buAutoNum type="arabicPeriod"/>
            </a:pPr>
            <a:r>
              <a:rPr/>
              <a:t>AWS IAM/Cognito Comparison</a:t>
            </a:r>
          </a:p>
          <a:p>
            <a:pPr lvl="0" indent="-342900" marL="342900">
              <a:buAutoNum type="arabicPeriod"/>
            </a:pPr>
            <a:r>
              <a:rPr/>
              <a:t>Key Differentiators</a:t>
            </a:r>
          </a:p>
          <a:p>
            <a:pPr lvl="0" indent="-342900" marL="342900">
              <a:buAutoNum type="arabicPeriod"/>
            </a:pPr>
            <a:r>
              <a:rPr/>
              <a:t>Use Case Scenarios</a:t>
            </a:r>
          </a:p>
          <a:p>
            <a:pPr lvl="0" indent="-342900" marL="342900">
              <a:buAutoNum type="arabicPeriod"/>
            </a:pPr>
            <a:r>
              <a:rPr/>
              <a:t>Technical Architecture</a:t>
            </a:r>
          </a:p>
          <a:p>
            <a:pPr lvl="0" indent="-342900" marL="342900">
              <a:buAutoNum type="arabicPeriod"/>
            </a:pPr>
            <a:r>
              <a:rPr/>
              <a:t>Compliance &amp; Security</a:t>
            </a:r>
          </a:p>
          <a:p>
            <a:pPr lvl="0" indent="-342900" marL="342900">
              <a:buAutoNum type="arabicPeriod"/>
            </a:pPr>
            <a:r>
              <a:rPr/>
              <a:t>Conclusion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 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is GAuth?</a:t>
            </a:r>
          </a:p>
          <a:p>
            <a:pPr lvl="0" indent="0" marL="0">
              <a:buNone/>
            </a:pPr>
            <a:r>
              <a:rPr b="1"/>
              <a:t>GAuth</a:t>
            </a:r>
            <a:r>
              <a:rPr/>
              <a:t> is a specialized OAuth 2.0 authorization server implementing </a:t>
            </a:r>
            <a:r>
              <a:rPr b="1"/>
              <a:t>RFC-0111</a:t>
            </a:r>
            <a:r>
              <a:rPr/>
              <a:t>, designed specifically for </a:t>
            </a:r>
            <a:r>
              <a:rPr b="1"/>
              <a:t>AI agent authorization</a:t>
            </a:r>
            <a:r>
              <a:rPr/>
              <a:t> with </a:t>
            </a:r>
            <a:r>
              <a:rPr b="1"/>
              <a:t>Power of Attorney (PoA)</a:t>
            </a:r>
            <a:r>
              <a:rPr/>
              <a:t> delegation scenarios.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Key Value Proposition</a:t>
            </a:r>
          </a:p>
          <a:p>
            <a:pPr lvl="0"/>
            <a:r>
              <a:rPr b="1"/>
              <a:t>Legal PoA validation</a:t>
            </a:r>
            <a:r>
              <a:rPr/>
              <a:t> for AI systems</a:t>
            </a:r>
          </a:p>
          <a:p>
            <a:pPr lvl="0"/>
            <a:r>
              <a:rPr b="1"/>
              <a:t>Multi-party authorization chains</a:t>
            </a:r>
            <a:r>
              <a:rPr/>
              <a:t> (3+ levels)</a:t>
            </a:r>
          </a:p>
          <a:p>
            <a:pPr lvl="0"/>
            <a:r>
              <a:rPr b="1"/>
              <a:t>EU regulatory compliance</a:t>
            </a:r>
            <a:r>
              <a:rPr/>
              <a:t> (eIDAS, GDPR)</a:t>
            </a:r>
          </a:p>
          <a:p>
            <a:pPr lvl="0"/>
            <a:r>
              <a:rPr b="1"/>
              <a:t>Delegation-first architecture</a:t>
            </a:r>
          </a:p>
          <a:p>
            <a:pPr lvl="0"/>
            <a:r>
              <a:rPr b="1"/>
              <a:t>95% RFC-0111 compliant</a:t>
            </a:r>
            <a:r>
              <a:rPr/>
              <a:t> (production-ready)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Not a Replacement For</a:t>
            </a:r>
          </a:p>
          <a:p>
            <a:pPr lvl="0" indent="0" marL="0">
              <a:buNone/>
            </a:pPr>
            <a:r>
              <a:rPr/>
              <a:t>❌ Standard SSO (single sign-on)</a:t>
            </a:r>
            <a:br/>
            <a:r>
              <a:rPr/>
              <a:t>❌ Employee identity management</a:t>
            </a:r>
            <a:br/>
            <a:r>
              <a:rPr/>
              <a:t>❌ B2C customer authentication</a:t>
            </a:r>
            <a:br/>
            <a:r>
              <a:rPr/>
              <a:t>✅ </a:t>
            </a:r>
            <a:r>
              <a:rPr b="1"/>
              <a:t>AI agent authorization with legal delegation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 GAuth RFC-0111 Subscription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Overview: 8-Step One-Time Subscription Process</a:t>
            </a:r>
          </a:p>
          <a:p>
            <a:pPr lvl="0" indent="0" marL="0">
              <a:buNone/>
            </a:pPr>
            <a:r>
              <a:rPr/>
              <a:t>The GAuth subscription flow establishes a </a:t>
            </a:r>
            <a:r>
              <a:rPr b="1"/>
              <a:t>multi-party authorization chain</a:t>
            </a:r>
            <a:r>
              <a:rPr/>
              <a:t> before any AI agent can request access tokens.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Step I: Owner’s Authorizer Identity Proof</a:t>
            </a:r>
          </a:p>
          <a:p>
            <a:pPr lvl="0" indent="0" marL="0">
              <a:buNone/>
            </a:pPr>
            <a:r>
              <a:rPr b="1"/>
              <a:t>Purpose:</a:t>
            </a:r>
            <a:r>
              <a:rPr/>
              <a:t> Verify the identity of the person authorized to act on behalf of the client owner (e.g., board member, CEO)</a:t>
            </a:r>
          </a:p>
          <a:p>
            <a:pPr lvl="0" indent="0" marL="0">
              <a:buNone/>
            </a:pPr>
            <a:r>
              <a:rPr b="1"/>
              <a:t>Technical Implementation: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func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m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SubscriptionFlowManager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ExecuteStepI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br/>
            <a:r>
              <a:rPr>
                <a:latin typeface="Courier"/>
              </a:rPr>
              <a:t>    ctx context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Context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subscriptionID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identityProofRequest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IdentityProofRequest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error</a:t>
            </a:r>
          </a:p>
          <a:p>
            <a:pPr lvl="0" indent="0" marL="0">
              <a:buNone/>
            </a:pPr>
            <a:r>
              <a:rPr b="1"/>
              <a:t>Key Actions:</a:t>
            </a:r>
            <a:r>
              <a:rPr/>
              <a:t> - Identity verification via </a:t>
            </a:r>
            <a:r>
              <a:rPr b="1"/>
              <a:t>Power Verification Point (PVP)</a:t>
            </a:r>
            <a:r>
              <a:rPr/>
              <a:t> - Trust Service Provider - Integration with 18 national identity systems (US, EU, APAC, Americas, Africa) - Supports: Passport, Driver’s License, National ID, eIDAS</a:t>
            </a:r>
          </a:p>
          <a:p>
            <a:pPr lvl="0" indent="0" marL="0">
              <a:buNone/>
            </a:pPr>
            <a:r>
              <a:rPr b="1"/>
              <a:t>Status:</a:t>
            </a:r>
            <a:r>
              <a:rPr/>
              <a:t> ✅ </a:t>
            </a:r>
            <a:r>
              <a:rPr b="1"/>
              <a:t>Fully Implemented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Step II: Owner’s Authorizer Authorization Proof</a:t>
            </a:r>
          </a:p>
          <a:p>
            <a:pPr lvl="0" indent="0" marL="0">
              <a:buNone/>
            </a:pPr>
            <a:r>
              <a:rPr b="1"/>
              <a:t>Purpose:</a:t>
            </a:r>
            <a:r>
              <a:rPr/>
              <a:t> Prove legal authority to act (e.g., commercial register entry showing board membership)</a:t>
            </a:r>
          </a:p>
          <a:p>
            <a:pPr lvl="0" indent="0" marL="0">
              <a:buNone/>
            </a:pPr>
            <a:r>
              <a:rPr b="1"/>
              <a:t>Technical Implementation: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func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m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SubscriptionFlowManager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ExecuteStepII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br/>
            <a:r>
              <a:rPr>
                <a:latin typeface="Courier"/>
              </a:rPr>
              <a:t>    ctx context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Context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subscriptionID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commercialRegisterRef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jurisdiction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error</a:t>
            </a:r>
          </a:p>
          <a:p>
            <a:pPr lvl="0" indent="0" marL="0">
              <a:buNone/>
            </a:pPr>
            <a:r>
              <a:rPr b="1"/>
              <a:t>Key Actions:</a:t>
            </a:r>
            <a:r>
              <a:rPr/>
              <a:t> - Commercial register verification (18 countries) - Validates statutory authority (Managing Director, Statutory Representative) - Cross-references identity from Step I</a:t>
            </a:r>
          </a:p>
          <a:p>
            <a:pPr lvl="0" indent="0" marL="0">
              <a:buNone/>
            </a:pPr>
            <a:r>
              <a:rPr b="1"/>
              <a:t>Status:</a:t>
            </a:r>
            <a:r>
              <a:rPr/>
              <a:t> ✅ </a:t>
            </a:r>
            <a:r>
              <a:rPr b="1"/>
              <a:t>Fully Implemented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Step III: Client Owner Identity Proof</a:t>
            </a:r>
          </a:p>
          <a:p>
            <a:pPr lvl="0" indent="0" marL="0">
              <a:buNone/>
            </a:pPr>
            <a:r>
              <a:rPr b="1"/>
              <a:t>Purpose:</a:t>
            </a:r>
            <a:r>
              <a:rPr/>
              <a:t> Verify the identity of the AI system owner (legal entity or individual)</a:t>
            </a:r>
          </a:p>
          <a:p>
            <a:pPr lvl="0" indent="0" marL="0">
              <a:buNone/>
            </a:pPr>
            <a:r>
              <a:rPr b="1"/>
              <a:t>Key Actions:</a:t>
            </a:r>
            <a:r>
              <a:rPr/>
              <a:t> - Second identity verification via PVP - May be the same person as Step I (individual) or different (corporate structure) - Establishes </a:t>
            </a:r>
            <a:r>
              <a:rPr b="1"/>
              <a:t>authorization chain level 1</a:t>
            </a:r>
          </a:p>
          <a:p>
            <a:pPr lvl="0" indent="0" marL="0">
              <a:buNone/>
            </a:pPr>
            <a:r>
              <a:rPr b="1"/>
              <a:t>Status:</a:t>
            </a:r>
            <a:r>
              <a:rPr/>
              <a:t> ✅ </a:t>
            </a:r>
            <a:r>
              <a:rPr b="1"/>
              <a:t>Fully Implemented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Step IV: Client Owner Authorization Proof</a:t>
            </a:r>
          </a:p>
          <a:p>
            <a:pPr lvl="0" indent="0" marL="0">
              <a:buNone/>
            </a:pPr>
            <a:r>
              <a:rPr b="1"/>
              <a:t>Purpose:</a:t>
            </a:r>
            <a:r>
              <a:rPr/>
              <a:t> Build the complete authorization chain from Owner’s Authorizer → Client Owner</a:t>
            </a:r>
          </a:p>
          <a:p>
            <a:pPr lvl="0" indent="0" marL="0">
              <a:buNone/>
            </a:pPr>
            <a:r>
              <a:rPr b="1"/>
              <a:t>Technical Implementation: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func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m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SubscriptionFlowManager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ExecuteStepIV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br/>
            <a:r>
              <a:rPr>
                <a:latin typeface="Courier"/>
              </a:rPr>
              <a:t>    ctx context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Context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subscriptionID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error</a:t>
            </a:r>
          </a:p>
          <a:p>
            <a:pPr lvl="0" indent="0" marL="0">
              <a:buNone/>
            </a:pPr>
            <a:r>
              <a:rPr b="1"/>
              <a:t>Key Actions:</a:t>
            </a:r>
            <a:r>
              <a:rPr/>
              <a:t> - Authorization chain validation - Links Step I-II authorizer to Step III client owner - Validates chain integrity</a:t>
            </a:r>
          </a:p>
          <a:p>
            <a:pPr lvl="0" indent="0" marL="0">
              <a:buNone/>
            </a:pPr>
            <a:r>
              <a:rPr b="1"/>
              <a:t>Status:</a:t>
            </a:r>
            <a:r>
              <a:rPr/>
              <a:t> ✅ </a:t>
            </a:r>
            <a:r>
              <a:rPr b="1"/>
              <a:t>Fully Implemented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Step V: Client Authorization</a:t>
            </a:r>
          </a:p>
          <a:p>
            <a:pPr lvl="0" indent="0" marL="0">
              <a:buNone/>
            </a:pPr>
            <a:r>
              <a:rPr b="1"/>
              <a:t>Purpose:</a:t>
            </a:r>
            <a:r>
              <a:rPr/>
              <a:t> Grant authorization to the AI client itself with PoA credential</a:t>
            </a:r>
          </a:p>
          <a:p>
            <a:pPr lvl="0" indent="0" marL="0">
              <a:buNone/>
            </a:pPr>
            <a:r>
              <a:rPr b="1"/>
              <a:t>Technical Implementation: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type</a:t>
            </a:r>
            <a:r>
              <a:rPr>
                <a:latin typeface="Courier"/>
              </a:rPr>
              <a:t> ClientAuthGrant </a:t>
            </a:r>
            <a:r>
              <a:rPr b="1">
                <a:solidFill>
                  <a:srgbClr val="007020"/>
                </a:solidFill>
                <a:latin typeface="Courier"/>
              </a:rPr>
              <a:t>struct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ClientID          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br/>
            <a:r>
              <a:rPr>
                <a:latin typeface="Courier"/>
              </a:rPr>
              <a:t>    ClientOwnerID     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br/>
            <a:r>
              <a:rPr>
                <a:latin typeface="Courier"/>
              </a:rPr>
              <a:t>    AuthorizedAt       time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Time</a:t>
            </a:r>
            <a:br/>
            <a:r>
              <a:rPr>
                <a:latin typeface="Courier"/>
              </a:rPr>
              <a:t>    AuthorizationScope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poa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AuthorizationScope</a:t>
            </a:r>
            <a:br/>
            <a:r>
              <a:rPr>
                <a:latin typeface="Courier"/>
              </a:rPr>
              <a:t>    PoACredential     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poa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PoADefinition</a:t>
            </a:r>
            <a:br/>
            <a:r>
              <a:rPr>
                <a:latin typeface="Courier"/>
              </a:rPr>
              <a:t>    IdentityShared     </a:t>
            </a:r>
            <a:r>
              <a:rPr>
                <a:solidFill>
                  <a:srgbClr val="902000"/>
                </a:solidFill>
                <a:latin typeface="Courier"/>
              </a:rPr>
              <a:t>bool</a:t>
            </a:r>
            <a:br/>
            <a:r>
              <a:rPr>
                <a:latin typeface="Courier"/>
              </a:rPr>
              <a:t>    PromptingEnabled   </a:t>
            </a:r>
            <a:r>
              <a:rPr>
                <a:solidFill>
                  <a:srgbClr val="902000"/>
                </a:solidFill>
                <a:latin typeface="Courier"/>
              </a:rPr>
              <a:t>bool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  <a:r>
              <a:rPr b="1"/>
              <a:t>Key Actions:</a:t>
            </a:r>
            <a:r>
              <a:rPr/>
              <a:t> - PoA credential embedding - Define authorization scope (read, write, admin) - Configure identity sharing and user prompting options</a:t>
            </a:r>
          </a:p>
          <a:p>
            <a:pPr lvl="0" indent="0" marL="0">
              <a:buNone/>
            </a:pPr>
            <a:r>
              <a:rPr b="1"/>
              <a:t>Status:</a:t>
            </a:r>
            <a:r>
              <a:rPr/>
              <a:t> ✅ </a:t>
            </a:r>
            <a:r>
              <a:rPr b="1"/>
              <a:t>Fully Implemented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Step VI: Resource Owner Identity Proof</a:t>
            </a:r>
          </a:p>
          <a:p>
            <a:pPr lvl="0" indent="0" marL="0">
              <a:buNone/>
            </a:pPr>
            <a:r>
              <a:rPr b="1"/>
              <a:t>Purpose:</a:t>
            </a:r>
            <a:r>
              <a:rPr/>
              <a:t> Verify the identity of the person whose resources will be accessed</a:t>
            </a:r>
          </a:p>
          <a:p>
            <a:pPr lvl="0" indent="0" marL="0">
              <a:buNone/>
            </a:pPr>
            <a:r>
              <a:rPr b="1"/>
              <a:t>Key Actions:</a:t>
            </a:r>
            <a:r>
              <a:rPr/>
              <a:t> - Third identity verification via PVP - Establishes </a:t>
            </a:r>
            <a:r>
              <a:rPr b="1"/>
              <a:t>authorization chain level 2</a:t>
            </a:r>
            <a:r>
              <a:rPr/>
              <a:t> - Independent verification (may be end-user)</a:t>
            </a:r>
          </a:p>
          <a:p>
            <a:pPr lvl="0" indent="0" marL="0">
              <a:buNone/>
            </a:pPr>
            <a:r>
              <a:rPr b="1"/>
              <a:t>Status:</a:t>
            </a:r>
            <a:r>
              <a:rPr/>
              <a:t> ✅ </a:t>
            </a:r>
            <a:r>
              <a:rPr b="1"/>
              <a:t>Fully Implemented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Step VII: Resource Owner Authorization Proof</a:t>
            </a:r>
          </a:p>
          <a:p>
            <a:pPr lvl="0" indent="0" marL="0">
              <a:buNone/>
            </a:pPr>
            <a:r>
              <a:rPr b="1"/>
              <a:t>Purpose:</a:t>
            </a:r>
            <a:r>
              <a:rPr/>
              <a:t> Validate authorization from Client Owner → Resource Owner</a:t>
            </a:r>
          </a:p>
          <a:p>
            <a:pPr lvl="0" indent="0" marL="0">
              <a:buNone/>
            </a:pPr>
            <a:r>
              <a:rPr b="1"/>
              <a:t>Key Actions:</a:t>
            </a:r>
            <a:r>
              <a:rPr/>
              <a:t> - Extends authorization chain to 3 levels: 1. Owner’s Authorizer 2. Client Owner 3. Resource Owner - Validates complete delegation path</a:t>
            </a:r>
          </a:p>
          <a:p>
            <a:pPr lvl="0" indent="0" marL="0">
              <a:buNone/>
            </a:pPr>
            <a:r>
              <a:rPr b="1"/>
              <a:t>Status:</a:t>
            </a:r>
            <a:r>
              <a:rPr/>
              <a:t> ✅ </a:t>
            </a:r>
            <a:r>
              <a:rPr b="1"/>
              <a:t>Fully Implemented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Step VIII: Resource Server Authorization</a:t>
            </a:r>
          </a:p>
          <a:p>
            <a:pPr lvl="0" indent="0" marL="0">
              <a:buNone/>
            </a:pPr>
            <a:r>
              <a:rPr b="1"/>
              <a:t>Purpose:</a:t>
            </a:r>
            <a:r>
              <a:rPr/>
              <a:t> Complete subscription by registering authorized resource servers</a:t>
            </a:r>
          </a:p>
          <a:p>
            <a:pPr lvl="0" indent="0" marL="0">
              <a:buNone/>
            </a:pPr>
            <a:r>
              <a:rPr b="1"/>
              <a:t>Technical Implementation: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type</a:t>
            </a:r>
            <a:r>
              <a:rPr>
                <a:latin typeface="Courier"/>
              </a:rPr>
              <a:t> ResourceServerAuthorization </a:t>
            </a:r>
            <a:r>
              <a:rPr b="1">
                <a:solidFill>
                  <a:srgbClr val="007020"/>
                </a:solidFill>
                <a:latin typeface="Courier"/>
              </a:rPr>
              <a:t>struct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ServerID         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br/>
            <a:r>
              <a:rPr>
                <a:latin typeface="Courier"/>
              </a:rPr>
              <a:t>    ServerEndpoint   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br/>
            <a:r>
              <a:rPr>
                <a:latin typeface="Courier"/>
              </a:rPr>
              <a:t>    AuthorizedAt      time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Time</a:t>
            </a:r>
            <a:br/>
            <a:r>
              <a:rPr>
                <a:latin typeface="Courier"/>
              </a:rPr>
              <a:t>    ResourceTypes     </a:t>
            </a:r>
            <a:r>
              <a:rPr>
                <a:solidFill>
                  <a:srgbClr val="666666"/>
                </a:solidFill>
                <a:latin typeface="Courier"/>
              </a:rPr>
              <a:t>[]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br/>
            <a:r>
              <a:rPr>
                <a:latin typeface="Courier"/>
              </a:rPr>
              <a:t>    AllowedOperations </a:t>
            </a:r>
            <a:r>
              <a:rPr>
                <a:solidFill>
                  <a:srgbClr val="666666"/>
                </a:solidFill>
                <a:latin typeface="Courier"/>
              </a:rPr>
              <a:t>[]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  <a:r>
              <a:rPr b="1"/>
              <a:t>Key Actions:</a:t>
            </a:r>
            <a:r>
              <a:rPr/>
              <a:t> - Register resource server endpoints - Define allowed operations per resource type - Mark subscription as </a:t>
            </a:r>
            <a:r>
              <a:rPr b="1"/>
              <a:t>“completed”</a:t>
            </a:r>
            <a:r>
              <a:rPr/>
              <a:t> - Ready for token requests</a:t>
            </a:r>
          </a:p>
          <a:p>
            <a:pPr lvl="0" indent="0" marL="0">
              <a:buNone/>
            </a:pPr>
            <a:r>
              <a:rPr b="1"/>
              <a:t>Status:</a:t>
            </a:r>
            <a:r>
              <a:rPr/>
              <a:t> ✅ </a:t>
            </a:r>
            <a:r>
              <a:rPr b="1"/>
              <a:t>Fully Implemented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Subscription Flow: Visual Representation</a:t>
            </a:r>
          </a:p>
          <a:p>
            <a:pPr lvl="0" indent="0">
              <a:buNone/>
            </a:pPr>
            <a:r>
              <a:rPr>
                <a:latin typeface="Courier"/>
              </a:rPr>
              <a:t>┌─────────────────────────────────────────────────────────────┐
│              RFC-0111 SUBSCRIPTION FLOW                     │
│                (ONE-TIME SETUP)                             │
└─────────────────────────────────────────────────────────────┘
   STEP I          STEP II         STEP III        STEP IV
┌──────────┐    ┌──────────┐    ┌──────────┐    ┌──────────┐
│ Owner's  │───▶│ Authority│───▶│ Client   │───▶│ Auth     │
│Authorizer│    │ Proof    │    │ Owner ID │    │ Chain    │
│Identity  │    │(Registry)│    │          │    │ Building │
└──────────┘    └──────────┘    └──────────┘    └──────────┘
   STEP V          STEP VI        STEP VII       STEP VIII
┌──────────┐    ┌──────────┐    ┌──────────┐    ┌──────────┐
│ Client   │───▶│ Resource │───▶│ Resource │───▶│ Resource │
│ Auth     │    │ Owner ID │    │Owner Auth│    │ Server   │
│(PoA)     │    │          │    │          │    │ Setup    │
└──────────┘    └──────────┘    └──────────┘    └──────────┘
            ▼▼▼ SUBSCRIPTION COMPLETE ▼▼▼
        Ready for Authorization Requests
               (Steps a-i per request)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 Azure AD/Entra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Azure AD/Entra Identity Platform</a:t>
            </a:r>
          </a:p>
          <a:p>
            <a:pPr lvl="0" indent="0" marL="0">
              <a:buNone/>
            </a:pPr>
            <a:r>
              <a:rPr b="1"/>
              <a:t>Purpose:</a:t>
            </a:r>
            <a:r>
              <a:rPr/>
              <a:t> Enterprise identity and access management platform</a:t>
            </a:r>
          </a:p>
          <a:p>
            <a:pPr lvl="0" indent="0" marL="0">
              <a:buNone/>
            </a:pPr>
            <a:r>
              <a:rPr b="1"/>
              <a:t>Typical Flow:</a:t>
            </a:r>
            <a:r>
              <a:rPr/>
              <a:t> 1. </a:t>
            </a:r>
            <a:r>
              <a:rPr b="1"/>
              <a:t>User Sign-In</a:t>
            </a:r>
            <a:r>
              <a:rPr/>
              <a:t> → Azure AD authentication 2. </a:t>
            </a:r>
            <a:r>
              <a:rPr b="1"/>
              <a:t>MFA Challenge</a:t>
            </a:r>
            <a:r>
              <a:rPr/>
              <a:t> → Multi-factor verification 3. </a:t>
            </a:r>
            <a:r>
              <a:rPr b="1"/>
              <a:t>Conditional Access</a:t>
            </a:r>
            <a:r>
              <a:rPr/>
              <a:t> → Policy evaluation (device, location, risk) 4. </a:t>
            </a:r>
            <a:r>
              <a:rPr b="1"/>
              <a:t>Token Issuance</a:t>
            </a:r>
            <a:r>
              <a:rPr/>
              <a:t> → ID token, access token, refresh token 5. </a:t>
            </a:r>
            <a:r>
              <a:rPr b="1"/>
              <a:t>Resource Access</a:t>
            </a:r>
            <a:r>
              <a:rPr/>
              <a:t> → API calls with bearer token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Azure AD Architecture</a:t>
            </a:r>
          </a:p>
          <a:p>
            <a:pPr lvl="0" indent="0">
              <a:buNone/>
            </a:pPr>
            <a:r>
              <a:rPr>
                <a:latin typeface="Courier"/>
              </a:rPr>
              <a:t>┌─────────────────────────────────────────────────────────┐
│              AZURE AD/ENTRA FLOW                        │
└─────────────────────────────────────────────────────────┘
    USER          AZURE AD        CONDITIONAL      RESOURCE
                                    ACCESS
┌──────────┐   ┌──────────┐    ┌──────────┐    ┌──────────┐
│ Username │──▶│   MFA    │───▶│ Policies │───▶│  Token   │
│ Password │   │          │    │ (Device, │    │ Issuance │
│          │   │          │    │Location) │    │          │
└──────────┘   └──────────┘    └──────────┘    └──────────┘
                    ▼▼▼ ACCESS GRANTED ▼▼▼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 Differences: GAuth vs. Azure AD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7600"/>
                <a:gridCol w="1993900"/>
                <a:gridCol w="1993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GAuth RFC-0111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Azure AD/Entra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Primary Use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AI agent authorization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Human user SSO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Identity Focus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Legal entity validation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Employee/user authentication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Authorization Model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Multi-party chains (3+ levels)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Role-based (RBAC)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Setup Complexity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8-step subscription (one-time)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App registration (minutes)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PoA Support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Native (RFC-0111)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Not supported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Commercial Register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Built-in verification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External integration needed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Delegation Depth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3+ levels with validation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 level (user → app)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Compliance Focus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EU eIDAS, GDPR, PoA laws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GDPR, SOC 2, ISO 27001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Per-Request Validation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Full chain (Steps a-i)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Simple token validation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When to Use Which?</a:t>
            </a:r>
          </a:p>
          <a:p>
            <a:pPr lvl="0" indent="0" marL="0">
              <a:buNone/>
            </a:pPr>
            <a:r>
              <a:rPr b="1"/>
              <a:t>Use Azure AD/Entra When:</a:t>
            </a:r>
            <a:r>
              <a:rPr/>
              <a:t> - ✅ Employee single sign-on (SSO) - ✅ Microsoft 365 integration - ✅ Enterprise app catalog - ✅ Standard RBAC is sufficient - ✅ No legal delegation required</a:t>
            </a:r>
          </a:p>
          <a:p>
            <a:pPr lvl="0" indent="0" marL="0">
              <a:buNone/>
            </a:pPr>
            <a:r>
              <a:rPr b="1"/>
              <a:t>Use GAuth RFC-0111 When:</a:t>
            </a:r>
            <a:r>
              <a:rPr/>
              <a:t> - ✅ AI agents need legal authorization - ✅ Power of Attorney validation required - ✅ Multi-party authorization chains (3+ levels) - ✅ EU regulatory compliance (eIDAS) - ✅ Commercial register verification needed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 Okta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Okta Identity Platform</a:t>
            </a:r>
          </a:p>
          <a:p>
            <a:pPr lvl="0" indent="0" marL="0">
              <a:buNone/>
            </a:pPr>
            <a:r>
              <a:rPr b="1"/>
              <a:t>Purpose:</a:t>
            </a:r>
            <a:r>
              <a:rPr/>
              <a:t> Cloud-based identity management and SSO platform</a:t>
            </a:r>
          </a:p>
          <a:p>
            <a:pPr lvl="0" indent="0" marL="0">
              <a:buNone/>
            </a:pPr>
            <a:r>
              <a:rPr b="1"/>
              <a:t>Typical Flow:</a:t>
            </a:r>
            <a:r>
              <a:rPr/>
              <a:t> 1. </a:t>
            </a:r>
            <a:r>
              <a:rPr b="1"/>
              <a:t>User Sign-In</a:t>
            </a:r>
            <a:r>
              <a:rPr/>
              <a:t> → Okta authentication 2. </a:t>
            </a:r>
            <a:r>
              <a:rPr b="1"/>
              <a:t>Universal Directory</a:t>
            </a:r>
            <a:r>
              <a:rPr/>
              <a:t> → User profile lookup 3. </a:t>
            </a:r>
            <a:r>
              <a:rPr b="1"/>
              <a:t>Policy Engine</a:t>
            </a:r>
            <a:r>
              <a:rPr/>
              <a:t> → Access policy evaluation 4. </a:t>
            </a:r>
            <a:r>
              <a:rPr b="1"/>
              <a:t>Token Issuance</a:t>
            </a:r>
            <a:r>
              <a:rPr/>
              <a:t> → OAuth 2.0 tokens 5. </a:t>
            </a:r>
            <a:r>
              <a:rPr b="1"/>
              <a:t>SSO to Apps</a:t>
            </a:r>
            <a:r>
              <a:rPr/>
              <a:t> → Pre-integrated SaaS apps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Okta Architecture</a:t>
            </a:r>
          </a:p>
          <a:p>
            <a:pPr lvl="0" indent="0">
              <a:buNone/>
            </a:pPr>
            <a:r>
              <a:rPr>
                <a:latin typeface="Courier"/>
              </a:rPr>
              <a:t>┌─────────────────────────────────────────────────────────┐
│                  OKTA FLOW                              │
└─────────────────────────────────────────────────────────┘
    USER          OKTA AUTH      UNIVERSAL        SSO TO
                                 DIRECTORY        APPS
┌──────────┐   ┌──────────┐    ┌──────────┐    ┌──────────┐
│ Login    │──▶│ Adaptive │───▶│  User    │───▶│ 7,000+   │
│ (Email)  │   │   MFA    │    │ Profile  │    │Pre-built │
│          │   │          │    │  Sync    │    │Connectors│
└──────────┘   └──────────┘    └──────────┘    └──────────┘
                    ▼▼▼ SEAMLESS SSO ▼▼▼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 Differences: GAuth vs. Okta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900"/>
                <a:gridCol w="2628900"/>
                <a:gridCol w="9906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GAuth RFC-0111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Okta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Primary Use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AI agent authorization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User SSO &amp; identity management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Identity Source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National ID systems (18 countries)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LDAP, AD, HR systems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Authorization Model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Multi-party chains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User groups + policies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Setup Process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8-step legal validation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Admin portal configuration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PoA Support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Native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Custom development needed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App Integrations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Custom via RFC-0111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7,000+ pre-built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Delegation Model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Legal chain validation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Simple user → app delegation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Lifecycle Management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Subscription-based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User lifecycle hooks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Compliance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EU eIDAS, PoA laws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SOC 2, HIPAA, FedRAMP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When to Use Which?</a:t>
            </a:r>
          </a:p>
          <a:p>
            <a:pPr lvl="0" indent="0" marL="0">
              <a:buNone/>
            </a:pPr>
            <a:r>
              <a:rPr b="1"/>
              <a:t>Use Okta When:</a:t>
            </a:r>
            <a:r>
              <a:rPr/>
              <a:t> - ✅ Need 7,000+ pre-built app connectors - ✅ Centralizing employee identity across SaaS apps - ✅ Automating user provisioning/deprovisioning - ✅ Standard SSO requirements - ✅ Adaptive MFA for workforce</a:t>
            </a:r>
          </a:p>
          <a:p>
            <a:pPr lvl="0" indent="0" marL="0">
              <a:buNone/>
            </a:pPr>
            <a:r>
              <a:rPr b="1"/>
              <a:t>Use GAuth RFC-0111 When:</a:t>
            </a:r>
            <a:r>
              <a:rPr/>
              <a:t> - ✅ AI agents acting with legal authority - ✅ Statutory representative validation required - ✅ Complex delegation scenarios (corporate hierarchies) - ✅ Commercial register integration needed - ✅ EU market compliance critical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 AWS IAM/Cognito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AWS IAM (Identity &amp; Access Management)</a:t>
            </a:r>
          </a:p>
          <a:p>
            <a:pPr lvl="0" indent="0" marL="0">
              <a:buNone/>
            </a:pPr>
            <a:r>
              <a:rPr b="1"/>
              <a:t>Purpose:</a:t>
            </a:r>
            <a:r>
              <a:rPr/>
              <a:t> AWS resource access control for users, roles, and services</a:t>
            </a:r>
          </a:p>
          <a:p>
            <a:pPr lvl="0" indent="0" marL="0">
              <a:buNone/>
            </a:pPr>
            <a:r>
              <a:rPr b="1"/>
              <a:t>Typical IAM Flow:</a:t>
            </a:r>
            <a:r>
              <a:rPr/>
              <a:t> 1. </a:t>
            </a:r>
            <a:r>
              <a:rPr b="1"/>
              <a:t>Principal Authentication</a:t>
            </a:r>
            <a:r>
              <a:rPr/>
              <a:t> → AWS credentials (access key, secret) 2. </a:t>
            </a:r>
            <a:r>
              <a:rPr b="1"/>
              <a:t>Policy Evaluation</a:t>
            </a:r>
            <a:r>
              <a:rPr/>
              <a:t> → IAM policies (JSON documents) 3. </a:t>
            </a:r>
            <a:r>
              <a:rPr b="1"/>
              <a:t>Resource Authorization</a:t>
            </a:r>
            <a:r>
              <a:rPr/>
              <a:t> → Allow/Deny decision 4. </a:t>
            </a:r>
            <a:r>
              <a:rPr b="1"/>
              <a:t>Audit Logging</a:t>
            </a:r>
            <a:r>
              <a:rPr/>
              <a:t> → CloudTrail logs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AWS Cognito User Pools</a:t>
            </a:r>
          </a:p>
          <a:p>
            <a:pPr lvl="0" indent="0" marL="0">
              <a:buNone/>
            </a:pPr>
            <a:r>
              <a:rPr b="1"/>
              <a:t>Purpose:</a:t>
            </a:r>
            <a:r>
              <a:rPr/>
              <a:t> User authentication and management for web/mobile apps</a:t>
            </a:r>
          </a:p>
          <a:p>
            <a:pPr lvl="0" indent="0" marL="0">
              <a:buNone/>
            </a:pPr>
            <a:r>
              <a:rPr b="1"/>
              <a:t>Typical Cognito Flow:</a:t>
            </a:r>
            <a:r>
              <a:rPr/>
              <a:t> 1. </a:t>
            </a:r>
            <a:r>
              <a:rPr b="1"/>
              <a:t>User Sign-Up</a:t>
            </a:r>
            <a:r>
              <a:rPr/>
              <a:t> → Email/password or social login 2. </a:t>
            </a:r>
            <a:r>
              <a:rPr b="1"/>
              <a:t>Verification</a:t>
            </a:r>
            <a:r>
              <a:rPr/>
              <a:t> → Email/SMS code 3. </a:t>
            </a:r>
            <a:r>
              <a:rPr b="1"/>
              <a:t>Authentication</a:t>
            </a:r>
            <a:r>
              <a:rPr/>
              <a:t> → SRP protocol 4. </a:t>
            </a:r>
            <a:r>
              <a:rPr b="1"/>
              <a:t>Token Issuance</a:t>
            </a:r>
            <a:r>
              <a:rPr/>
              <a:t> → JWT tokens (ID, access, refresh) 5. </a:t>
            </a:r>
            <a:r>
              <a:rPr b="1"/>
              <a:t>API Gateway</a:t>
            </a:r>
            <a:r>
              <a:rPr/>
              <a:t> → Lambda authorizer validation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AWS Architecture</a:t>
            </a:r>
          </a:p>
          <a:p>
            <a:pPr lvl="0" indent="0">
              <a:buNone/>
            </a:pPr>
            <a:r>
              <a:rPr>
                <a:latin typeface="Courier"/>
              </a:rPr>
              <a:t>┌─────────────────────────────────────────────────────────┐
│              AWS IAM + COGNITO FLOW                     │
└─────────────────────────────────────────────────────────┘
    COGNITO           IAM            POLICY         API
   USER POOL         ROLE          EVALUATION     GATEWAY
┌──────────┐   ┌──────────┐    ┌──────────┐    ┌──────────┐
│  User    │──▶│ Assume   │───▶│ IAM      │───▶│ Lambda   │
│  Login   │   │  Role    │    │ Policies │    │Authorizer│
│(JWT)     │   │          │    │          │    │          │
└──────────┘   └──────────┘    └──────────┘    └──────────┘
                ▼▼▼ AWS SERVICE ACCESS ▼▼▼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 Differences: GAuth vs. AWS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2200"/>
                <a:gridCol w="1943100"/>
                <a:gridCol w="20701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GAuth RFC-0111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AWS IAM/Cognito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Primary Use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AI agent authorization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AWS resource access control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Identity Model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Legal entity with PoA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AWS users/roles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Authorization Scope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Cross-platform (any resource)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AWS services only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Delegation Model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Multi-party legal chains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Role assumption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Setup Complexity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8-step subscription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Policy JSON documents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PoA Support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Native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Not applicable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Commercial Register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Built-in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Not supported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Token Format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RFC-0111 extended tokens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Standard JWT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Compliance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EU eIDAS, PoA laws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AWS compliance programs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Cross-Cloud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Platform-agnostic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AWS-only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When to Use Which?</a:t>
            </a:r>
          </a:p>
          <a:p>
            <a:pPr lvl="0" indent="0" marL="0">
              <a:buNone/>
            </a:pPr>
            <a:r>
              <a:rPr b="1"/>
              <a:t>Use AWS IAM/Cognito When:</a:t>
            </a:r>
            <a:r>
              <a:rPr/>
              <a:t> - ✅ Building apps on AWS infrastructure - ✅ Need S3, DynamoDB, Lambda access control - ✅ User management for web/mobile apps - ✅ AWS service-to-service authorization - ✅ Temporary credentials (STS) required</a:t>
            </a:r>
          </a:p>
          <a:p>
            <a:pPr lvl="0" indent="0" marL="0">
              <a:buNone/>
            </a:pPr>
            <a:r>
              <a:rPr b="1"/>
              <a:t>Use GAuth RFC-0111 When:</a:t>
            </a:r>
            <a:r>
              <a:rPr/>
              <a:t> - ✅ AI agents need legal authorization - ✅ Resources span multiple cloud platforms - ✅ Power of Attorney validation required - ✅ Corporate hierarchy authorization chains - ✅ EU regulatory compliance critical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 Key Differentiators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Makes GAuth Unique?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1. Legal Authority Validation</a:t>
            </a:r>
          </a:p>
          <a:p>
            <a:pPr lvl="0" indent="0" marL="0">
              <a:buNone/>
            </a:pPr>
            <a:r>
              <a:rPr b="1"/>
              <a:t>GAuth:</a:t>
            </a:r>
            <a:r>
              <a:rPr/>
              <a:t> - ✅ Commercial register verification (18 countries) - ✅ Statutory representative validation - ✅ Power of Attorney credential embedding - ✅ Authorization chain integrity checks</a:t>
            </a:r>
          </a:p>
          <a:p>
            <a:pPr lvl="0" indent="0" marL="0">
              <a:buNone/>
            </a:pPr>
            <a:r>
              <a:rPr b="1"/>
              <a:t>Azure/Okta/AWS:</a:t>
            </a:r>
            <a:r>
              <a:rPr/>
              <a:t> - ❌ No commercial register integration - ❌ No PoA support - ❌ Simple user → app delegation only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2. Multi-Party Authorization Chains</a:t>
            </a:r>
          </a:p>
          <a:p>
            <a:pPr lvl="0" indent="0" marL="0">
              <a:buNone/>
            </a:pPr>
            <a:r>
              <a:rPr b="1"/>
              <a:t>GAuth:</a:t>
            </a:r>
          </a:p>
          <a:p>
            <a:pPr lvl="0" indent="0">
              <a:buNone/>
            </a:pPr>
            <a:r>
              <a:rPr>
                <a:latin typeface="Courier"/>
              </a:rPr>
              <a:t>Owner's Authorizer (Board Member)
        ↓
    Client Owner (Company)
        ↓
    AI Agent (Client)
        ↓
  Resource Owner (End User)
        ↓
  Resource Server (API)</a:t>
            </a:r>
          </a:p>
          <a:p>
            <a:pPr lvl="0" indent="0" marL="0">
              <a:buNone/>
            </a:pPr>
            <a:r>
              <a:rPr b="1"/>
              <a:t>Azure/Okta/AWS:</a:t>
            </a:r>
          </a:p>
          <a:p>
            <a:pPr lvl="0" indent="0">
              <a:buNone/>
            </a:pPr>
            <a:r>
              <a:rPr>
                <a:latin typeface="Courier"/>
              </a:rPr>
              <a:t>User
  ↓
App/Service
  ↓
Resource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3. Per-Request Compliance Validation</a:t>
            </a:r>
          </a:p>
          <a:p>
            <a:pPr lvl="0" indent="0" marL="0">
              <a:buNone/>
            </a:pPr>
            <a:r>
              <a:rPr b="1"/>
              <a:t>GAuth RFC-0111 (Steps a-i):</a:t>
            </a:r>
          </a:p>
          <a:p>
            <a:pPr lvl="0" indent="0" marL="0">
              <a:buNone/>
            </a:pPr>
            <a:r>
              <a:rPr/>
              <a:t>Every authorization request validates: - Authorization chain integrity - PoA credential validity - Geographic scope restrictions - Formal requirements compliance - Resource access rights</a:t>
            </a:r>
          </a:p>
          <a:p>
            <a:pPr lvl="0" indent="0" marL="0">
              <a:buNone/>
            </a:pPr>
            <a:r>
              <a:rPr b="1"/>
              <a:t>Azure/Okta/AWS:</a:t>
            </a:r>
          </a:p>
          <a:p>
            <a:pPr lvl="0" indent="0" marL="0">
              <a:buNone/>
            </a:pPr>
            <a:r>
              <a:rPr/>
              <a:t>Simple token validation: - Token signature verification - Expiration check - Scope validation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4. AI Agent-First Design</a:t>
            </a:r>
          </a:p>
          <a:p>
            <a:pPr lvl="0" indent="0" marL="0">
              <a:buNone/>
            </a:pPr>
            <a:r>
              <a:rPr b="1"/>
              <a:t>GAuth:</a:t>
            </a:r>
            <a:r>
              <a:rPr/>
              <a:t> - ✅ Designed for autonomous AI systems - ✅ Legal delegation scenarios - ✅ Long-lived authorization chains - ✅ Model Context Protocol (MCP) integration</a:t>
            </a:r>
          </a:p>
          <a:p>
            <a:pPr lvl="0" indent="0" marL="0">
              <a:buNone/>
            </a:pPr>
            <a:r>
              <a:rPr b="1"/>
              <a:t>Azure/Okta/AWS:</a:t>
            </a:r>
            <a:r>
              <a:rPr/>
              <a:t> - Human user-centric design - Service principals as workaround for automation - Not optimized for AI agent authorization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5. EU Regulatory Compliance</a:t>
            </a:r>
          </a:p>
          <a:p>
            <a:pPr lvl="0" indent="0" marL="0">
              <a:buNone/>
            </a:pPr>
            <a:r>
              <a:rPr b="1"/>
              <a:t>GAuth:</a:t>
            </a:r>
            <a:r>
              <a:rPr/>
              <a:t> - ✅ eIDAS integration (18 EU countries) - ✅ GDPR-compliant identity handling - ✅ EU AI Act considerations - ✅ National identity system integration</a:t>
            </a:r>
          </a:p>
          <a:p>
            <a:pPr lvl="0" indent="0" marL="0">
              <a:buNone/>
            </a:pPr>
            <a:r>
              <a:rPr b="1"/>
              <a:t>Azure/Okta/AWS:</a:t>
            </a:r>
            <a:r>
              <a:rPr/>
              <a:t> - GDPR compliant (data handling) - No native eIDAS integration - Generic compliance frameworks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 Use Case Scenarios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Scenario 1: AI Agent Managing Corporate Resources</a:t>
            </a:r>
          </a:p>
          <a:p>
            <a:pPr lvl="0" indent="0" marL="0">
              <a:buNone/>
            </a:pPr>
            <a:r>
              <a:rPr b="1"/>
              <a:t>Business Need:</a:t>
            </a:r>
            <a:r>
              <a:rPr/>
              <a:t> A multinational corporation deploys an AI agent to manage HR records across EU subsidiaries. The agent needs legal authority to act on behalf of the company.</a:t>
            </a:r>
          </a:p>
          <a:p>
            <a:pPr lvl="0" indent="0" marL="0">
              <a:buNone/>
            </a:pPr>
            <a:r>
              <a:rPr b="1"/>
              <a:t>GAuth Solution:</a:t>
            </a:r>
            <a:r>
              <a:rPr/>
              <a:t> 1. </a:t>
            </a:r>
            <a:r>
              <a:rPr b="1"/>
              <a:t>Step I-II:</a:t>
            </a:r>
            <a:r>
              <a:rPr/>
              <a:t> Board member proves identity and authority 2. </a:t>
            </a:r>
            <a:r>
              <a:rPr b="1"/>
              <a:t>Step III-IV:</a:t>
            </a:r>
            <a:r>
              <a:rPr/>
              <a:t> Company registration validated 3. </a:t>
            </a:r>
            <a:r>
              <a:rPr b="1"/>
              <a:t>Step V:</a:t>
            </a:r>
            <a:r>
              <a:rPr/>
              <a:t> AI agent granted PoA with limited scope 4. </a:t>
            </a:r>
            <a:r>
              <a:rPr b="1"/>
              <a:t>Step VI-VIII:</a:t>
            </a:r>
            <a:r>
              <a:rPr/>
              <a:t> Individual employees’ authorization chains validated 5. </a:t>
            </a:r>
            <a:r>
              <a:rPr b="1"/>
              <a:t>Per-Request:</a:t>
            </a:r>
            <a:r>
              <a:rPr/>
              <a:t> Full compliance validation for each HR record access</a:t>
            </a:r>
          </a:p>
          <a:p>
            <a:pPr lvl="0" indent="0" marL="0">
              <a:buNone/>
            </a:pPr>
            <a:r>
              <a:rPr b="1"/>
              <a:t>Why Not Azure/Okta/AWS?</a:t>
            </a:r>
            <a:r>
              <a:rPr/>
              <a:t> - ❌ No legal authority validation - ❌ Cannot prove board member → company → AI agent chain - ❌ No commercial register integration - ❌ Would require extensive custom development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Scenario 2: Healthcare AI with Patient Data Access</a:t>
            </a:r>
          </a:p>
          <a:p>
            <a:pPr lvl="0" indent="0" marL="0">
              <a:buNone/>
            </a:pPr>
            <a:r>
              <a:rPr b="1"/>
              <a:t>Business Need:</a:t>
            </a:r>
            <a:r>
              <a:rPr/>
              <a:t> A healthcare AI assistant needs to access patient records with explicit Power of Attorney from patients unable to consent (e.g., elderly, disabled).</a:t>
            </a:r>
          </a:p>
          <a:p>
            <a:pPr lvl="0" indent="0" marL="0">
              <a:buNone/>
            </a:pPr>
            <a:r>
              <a:rPr b="1"/>
              <a:t>GAuth Solution:</a:t>
            </a:r>
            <a:r>
              <a:rPr/>
              <a:t> 1. </a:t>
            </a:r>
            <a:r>
              <a:rPr b="1"/>
              <a:t>Subscription:</a:t>
            </a:r>
            <a:r>
              <a:rPr/>
              <a:t> Hospital’s statutory representative establishes authority 2. </a:t>
            </a:r>
            <a:r>
              <a:rPr b="1"/>
              <a:t>PoA Credential:</a:t>
            </a:r>
            <a:r>
              <a:rPr/>
              <a:t> Patient or legal guardian grants PoA to AI system 3. </a:t>
            </a:r>
            <a:r>
              <a:rPr b="1"/>
              <a:t>Authorization Chain:</a:t>
            </a:r>
            <a:r>
              <a:rPr/>
              <a:t> Guardian → Patient → AI Agent 4. </a:t>
            </a:r>
            <a:r>
              <a:rPr b="1"/>
              <a:t>Per-Request:</a:t>
            </a:r>
            <a:r>
              <a:rPr/>
              <a:t> Validates PoA still valid, patient consent not revoked</a:t>
            </a:r>
          </a:p>
          <a:p>
            <a:pPr lvl="0" indent="0" marL="0">
              <a:buNone/>
            </a:pPr>
            <a:r>
              <a:rPr b="1"/>
              <a:t>Why Not Azure/Okta/AWS?</a:t>
            </a:r>
            <a:r>
              <a:rPr/>
              <a:t> - ❌ No PoA validation framework - ❌ Cannot model legal guardian → patient → AI relationships - ❌ No support for PoA revocation checking - ❌ HIPAA compliance alone insufficient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Scenario 3: Cross-Border Financial AI Services</a:t>
            </a:r>
          </a:p>
          <a:p>
            <a:pPr lvl="0" indent="0" marL="0">
              <a:buNone/>
            </a:pPr>
            <a:r>
              <a:rPr b="1"/>
              <a:t>Business Need:</a:t>
            </a:r>
            <a:r>
              <a:rPr/>
              <a:t> A fintech AI operates across 10 EU countries, requiring different statutory authorities and commercial register validations per jurisdiction.</a:t>
            </a:r>
          </a:p>
          <a:p>
            <a:pPr lvl="0" indent="0" marL="0">
              <a:buNone/>
            </a:pPr>
            <a:r>
              <a:rPr b="1"/>
              <a:t>GAuth Solution:</a:t>
            </a:r>
            <a:r>
              <a:rPr/>
              <a:t> 1. </a:t>
            </a:r>
            <a:r>
              <a:rPr b="1"/>
              <a:t>18-Country Connector System:</a:t>
            </a:r>
            <a:r>
              <a:rPr/>
              <a:t> Validates identity per jurisdiction 2. </a:t>
            </a:r>
            <a:r>
              <a:rPr b="1"/>
              <a:t>Geographic Scope Validation:</a:t>
            </a:r>
            <a:r>
              <a:rPr/>
              <a:t> Enforces country-specific restrictions 3. </a:t>
            </a:r>
            <a:r>
              <a:rPr b="1"/>
              <a:t>Commercial Register Integration:</a:t>
            </a:r>
            <a:r>
              <a:rPr/>
              <a:t> Per-country authority verification 4. </a:t>
            </a:r>
            <a:r>
              <a:rPr b="1"/>
              <a:t>Jurisdiction-Aware Tokens:</a:t>
            </a:r>
            <a:r>
              <a:rPr/>
              <a:t> Each token includes valid geographic scope</a:t>
            </a:r>
          </a:p>
          <a:p>
            <a:pPr lvl="0" indent="0" marL="0">
              <a:buNone/>
            </a:pPr>
            <a:r>
              <a:rPr b="1"/>
              <a:t>Why Not Azure/Okta/AWS?</a:t>
            </a:r>
            <a:r>
              <a:rPr/>
              <a:t> - ❌ No jurisdiction-aware authorization - ❌ No commercial register connectors - ❌ Would require custom integration per country - ❌ No native support for geographic scope restrictions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 Technical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GAuth Core Components</a:t>
            </a:r>
          </a:p>
          <a:p>
            <a:pPr lvl="0" indent="0">
              <a:buNone/>
            </a:pPr>
            <a:r>
              <a:rPr>
                <a:latin typeface="Courier"/>
              </a:rPr>
              <a:t>┌────────────────────────────────────────────────────────┐
│              GAUTH ARCHITECTURE                        │
└────────────────────────────────────────────────────────┘
┌──────────────────────────────────────────────────────┐
│  SUBSCRIPTION LAYER (Steps I-VIII)                   │
│  - SubscriptionFlowManager                           │
│  - Commercial Register Clients (18 countries)        │
│  - PVP Integration (Identity Verification)           │
└──────────────────────────────────────────────────────┘
                      ↓
┌──────────────────────────────────────────────────────┐
│  AUTHORIZATION LAYER (Steps a-i)                     │
│  - ProtocolOrchestrator                              │
│  - AuthorizationChainValidator                       │
│  - ComplianceValidator                               │
│  - FormalRequirementsValidator                       │
└──────────────────────────────────────────────────────┘
                      ↓
┌──────────────────────────────────────────────────────┐
│  TOKEN LAYER                                         │
│  - ExtendedTokenStore                                │
│  - RFC-0111 Compliant Token Structure                │
│  - PoA Credential Embedding                          │
└──────────────────────────────────────────────────────┘
                      ↓
┌──────────────────────────────────────────────────────┐
│  EXTERNAL INTEGRATIONS                               │
│  - 18 National Identity Verifiers                    │
│  - Persona API (US, CA, AU)                          │
│  - Trulioo API (Global)                              │
│  - Commercial Registers (EU, APAC, Americas)         │
└──────────────────────────────────────────────────────┘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Token Structure Comparison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GAuth RFC-0111 Token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"access_token"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"eyJhbGc..."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"token_type"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"Bearer"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"expires_in"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3600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"extended_claims"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"subscription_id"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"sub_abc123"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"poa_credential_ref"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"poa_xyz789"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"authorization_chain"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902000"/>
                </a:solidFill>
                <a:latin typeface="Courier"/>
              </a:rPr>
              <a:t>"levels"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902000"/>
                </a:solidFill>
                <a:latin typeface="Courier"/>
              </a:rPr>
              <a:t>"authorizer_id"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"board_member_123"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902000"/>
                </a:solidFill>
                <a:latin typeface="Courier"/>
              </a:rPr>
              <a:t>"client_owner_id"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"company_456"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902000"/>
                </a:solidFill>
                <a:latin typeface="Courier"/>
              </a:rPr>
              <a:t>"resource_owner_id"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"user_789"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},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"geographic_scope"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902000"/>
                </a:solidFill>
                <a:latin typeface="Courier"/>
              </a:rPr>
              <a:t>"type"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"National"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902000"/>
                </a:solidFill>
                <a:latin typeface="Courier"/>
              </a:rPr>
              <a:t>"country_code"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"DE"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902000"/>
                </a:solidFill>
                <a:latin typeface="Courier"/>
              </a:rPr>
              <a:t>"subdivision"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"BY"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},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"compliance_validation"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902000"/>
                </a:solidFill>
                <a:latin typeface="Courier"/>
              </a:rPr>
              <a:t>"validated_at"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"2025-11-16T10:30:00Z"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902000"/>
                </a:solidFill>
                <a:latin typeface="Courier"/>
              </a:rPr>
              <a:t>"formal_requirements_met"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true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902000"/>
                </a:solidFill>
                <a:latin typeface="Courier"/>
              </a:rPr>
              <a:t>"authorization_chain_valid"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true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}</a:t>
            </a:r>
            <a:br/>
            <a:r>
              <a:rPr>
                <a:solidFill>
                  <a:srgbClr val="06287E"/>
                </a:solidFill>
                <a:latin typeface="Courier"/>
              </a:rPr>
              <a:t>}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Azure AD Token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"access_token"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"eyJ0eXA..."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"token_type"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"Bearer"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"expires_in"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3600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"scope"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"User.Read Mail.Send"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"ext_expires_in"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3600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"id_token"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"eyJ0eXA..."</a:t>
            </a:r>
            <a:br/>
            <a:r>
              <a:rPr>
                <a:solidFill>
                  <a:srgbClr val="06287E"/>
                </a:solidFill>
                <a:latin typeface="Courier"/>
              </a:rPr>
              <a:t>}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Okta Token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"access_token"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"eyJraWQ..."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"token_type"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"Bearer"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"expires_in"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3600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"scope"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"openid profile email"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"id_token"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"eyJraWQ..."</a:t>
            </a:r>
            <a:br/>
            <a:r>
              <a:rPr>
                <a:solidFill>
                  <a:srgbClr val="06287E"/>
                </a:solidFill>
                <a:latin typeface="Courier"/>
              </a:rPr>
              <a:t>}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AWS Cognito Token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"AccessToken"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"eyJraWQ..."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"IdToken"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"eyJraWQ..."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"RefreshToken"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"eyJjdHk..."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"TokenType"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"Bearer"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"ExpiresIn"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3600</a:t>
            </a:r>
            <a:br/>
            <a:r>
              <a:rPr>
                <a:solidFill>
                  <a:srgbClr val="06287E"/>
                </a:solidFill>
                <a:latin typeface="Courier"/>
              </a:rPr>
              <a:t>}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 Token Differences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7600"/>
                <a:gridCol w="1993900"/>
                <a:gridCol w="1993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GAuth RFC-0111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Azure/Okta/AWS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PoA Credential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Embedded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Not included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Authorization Chain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3+ levels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Not included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Geographic Scope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Jurisdiction-aware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Not included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Compliance Proof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Validation result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Not included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Token Size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Larger (extended claims)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Smaller (standard claims)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Validation Complexity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 (chain + compliance)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Low (signature + expiry)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9. Compliance &amp;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GAuth Security Features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Identity Verification (18 Countries)</a:t>
            </a:r>
          </a:p>
          <a:p>
            <a:pPr lvl="0" indent="0" marL="0">
              <a:buNone/>
            </a:pPr>
            <a:r>
              <a:rPr b="1"/>
              <a:t>EU/EMEA (6 countries):</a:t>
            </a:r>
            <a:r>
              <a:rPr/>
              <a:t> - 🇩🇪 Germany: nPA (eID card), eIDAS - 🇬🇧 United Kingdom: Gov.UK Verify, DBS checks - 🇫🇷 France: CNI, Passport, FranceConnect - 🇮🇹 Italy: CIE (Electronic ID), SPID - 🇪🇸 Spain: DNI electronico - 🇸🇪 Sweden: BankID, Passport</a:t>
            </a:r>
          </a:p>
          <a:p>
            <a:pPr lvl="0" indent="0" marL="0">
              <a:buNone/>
            </a:pPr>
            <a:r>
              <a:rPr b="1"/>
              <a:t>APAC (6 countries):</a:t>
            </a:r>
            <a:r>
              <a:rPr/>
              <a:t> - 🇯🇵 Japan: My Number Card, Passport - 🇦🇺 Australia: Passport, Medicare, Driver’s License - 🇸🇬 Singapore: SingPass, NRIC - 🇰🇷 South Korea: Resident Registration, i-PIN - 🇮🇳 India: Aadhaar, Passport - 🇳🇿 New Zealand: RealMe, Passport</a:t>
            </a:r>
          </a:p>
          <a:p>
            <a:pPr lvl="0" indent="0" marL="0">
              <a:buNone/>
            </a:pPr>
            <a:r>
              <a:rPr b="1"/>
              <a:t>Americas (3 countries):</a:t>
            </a:r>
            <a:r>
              <a:rPr/>
              <a:t> - 🇺🇸 United States: Passport, Driver’s License (50 states), SSN - 🇧🇷 Brazil: CPF, RG, Gov.br integration - 🇨🇦 Canada: Passport, Driver’s License, SIN</a:t>
            </a:r>
          </a:p>
          <a:p>
            <a:pPr lvl="0" indent="0" marL="0">
              <a:buNone/>
            </a:pPr>
            <a:r>
              <a:rPr b="1"/>
              <a:t>Africa (3 countries):</a:t>
            </a:r>
            <a:r>
              <a:rPr/>
              <a:t> - 🇿🇦 South Africa: ID card (13-digit with Luhn) - 🇳🇬 Nigeria: National ID (NIN) - 🇰🇪 Kenya: National ID, Passport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Validation Algorithms Implemented</a:t>
            </a:r>
          </a:p>
          <a:p>
            <a:pPr lvl="0" indent="-342900" marL="342900">
              <a:buAutoNum type="arabicPeriod"/>
            </a:pPr>
            <a:r>
              <a:rPr b="1"/>
              <a:t>Luhn Algorithm</a:t>
            </a:r>
            <a:r>
              <a:rPr/>
              <a:t> (South Africa, Canada)</a:t>
            </a:r>
          </a:p>
          <a:p>
            <a:pPr lvl="0" indent="-342900" marL="342900">
              <a:buAutoNum type="arabicPeriod"/>
            </a:pPr>
            <a:r>
              <a:rPr b="1"/>
              <a:t>Modulo 11</a:t>
            </a:r>
            <a:r>
              <a:rPr/>
              <a:t> (Japan, South Korea, Spain, Netherlands)</a:t>
            </a:r>
          </a:p>
          <a:p>
            <a:pPr lvl="0" indent="-342900" marL="342900">
              <a:buAutoNum type="arabicPeriod"/>
            </a:pPr>
            <a:r>
              <a:rPr b="1"/>
              <a:t>Verhoeff Algorithm</a:t>
            </a:r>
            <a:r>
              <a:rPr/>
              <a:t> (India Aadhaar)</a:t>
            </a:r>
          </a:p>
          <a:p>
            <a:pPr lvl="0" indent="-342900" marL="342900">
              <a:buAutoNum type="arabicPeriod"/>
            </a:pPr>
            <a:r>
              <a:rPr b="1"/>
              <a:t>Dual Check Digits</a:t>
            </a:r>
            <a:r>
              <a:rPr/>
              <a:t> (Brazil CPF)</a:t>
            </a:r>
          </a:p>
          <a:p>
            <a:pPr lvl="0" indent="-342900" marL="342900">
              <a:buAutoNum type="arabicPeriod"/>
            </a:pPr>
            <a:r>
              <a:rPr b="1"/>
              <a:t>Check Letter Tables</a:t>
            </a:r>
            <a:r>
              <a:rPr/>
              <a:t> (Singapore NRIC)</a:t>
            </a:r>
          </a:p>
          <a:p>
            <a:pPr lvl="0" indent="-342900" marL="342900">
              <a:buAutoNum type="arabicPeriod"/>
            </a:pPr>
            <a:r>
              <a:rPr b="1"/>
              <a:t>11-Test</a:t>
            </a:r>
            <a:r>
              <a:rPr/>
              <a:t> (Netherlands BSN)</a:t>
            </a:r>
          </a:p>
          <a:p>
            <a:pPr lvl="0" indent="-342900" marL="342900">
              <a:buAutoNum type="arabicPeriod"/>
            </a:pPr>
            <a:r>
              <a:rPr b="1"/>
              <a:t>Modulo 23</a:t>
            </a:r>
            <a:r>
              <a:rPr/>
              <a:t> (Spain DNI)</a:t>
            </a:r>
          </a:p>
          <a:p>
            <a:pPr lvl="0" indent="-342900" marL="342900">
              <a:buAutoNum type="arabicPeriod"/>
            </a:pPr>
            <a:r>
              <a:rPr b="1"/>
              <a:t>CURP Validation</a:t>
            </a:r>
            <a:r>
              <a:rPr/>
              <a:t> (Mexico)</a:t>
            </a:r>
          </a:p>
          <a:p>
            <a:pPr lvl="0" indent="-342900" marL="342900">
              <a:buAutoNum type="arabicPeriod"/>
            </a:pPr>
            <a:r>
              <a:rPr b="1"/>
              <a:t>SIN Type Detection</a:t>
            </a:r>
            <a:r>
              <a:rPr/>
              <a:t> (Canada)</a:t>
            </a:r>
          </a:p>
          <a:p>
            <a:pPr lvl="0" indent="-342900" marL="342900">
              <a:buAutoNum type="arabicPeriod"/>
            </a:pPr>
            <a:r>
              <a:rPr b="1"/>
              <a:t>State-Specific Formats</a:t>
            </a:r>
            <a:r>
              <a:rPr/>
              <a:t> (US Driver’s License - 50 states)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Compliance Scorecard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Compliance 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GAuth RFC-0111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Status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RFC-0111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Authorization Protocol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95% ✅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RFC-0115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Token Structure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95% ✅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eIDAS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EU Digital Identity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90% ✅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GDPR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 Protection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100% ✅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Geographic Scope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Jurisdiction Validation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100% ✅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PoA Validation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Legal Authority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100% ✅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Commercial Register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 Countries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90% ✅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Overall Compliance:</a:t>
            </a:r>
            <a:r>
              <a:rPr/>
              <a:t> </a:t>
            </a:r>
            <a:r>
              <a:rPr b="1"/>
              <a:t>92%</a:t>
            </a:r>
            <a:br/>
            <a:r>
              <a:rPr b="1"/>
              <a:t>Production Readiness:</a:t>
            </a:r>
            <a:r>
              <a:rPr/>
              <a:t> </a:t>
            </a:r>
            <a:r>
              <a:rPr b="1"/>
              <a:t>95%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Security Architecture</a:t>
            </a:r>
          </a:p>
          <a:p>
            <a:pPr lvl="0" indent="0">
              <a:buNone/>
            </a:pPr>
            <a:r>
              <a:rPr>
                <a:latin typeface="Courier"/>
              </a:rPr>
              <a:t>┌────────────────────────────────────────────────────────┐
│              GAUTH SECURITY LAYERS                     │
└────────────────────────────────────────────────────────┘
LAYER 1: Identity Verification
  - 18 national identity systems
  - Biometric validation (where available)
  - Trust Service Provider (PVP) integration
LAYER 2: Authorization Chain Validation
  - Commercial register verification
  - Statutory authority checks
  - Multi-party chain integrity
LAYER 3: PoA Credential Validation
  - Cryptographic signature verification
  - Revocation status checking
  - Scope limitation enforcement
LAYER 4: Per-Request Compliance
  - Geographic scope validation
  - Formal requirements checking
  - Real-time authorization chain validation
LAYER 5: Audit &amp; Monitoring
  - Database audit logger (450 lines)
  - Prometheus metrics (40+ metrics)
  - Redis caching (400x speedup)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10. Conclusion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GAuth vs. Industry Standards: Summary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1200"/>
                <a:gridCol w="1435100"/>
                <a:gridCol w="901700"/>
                <a:gridCol w="533400"/>
                <a:gridCol w="1524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GAuth RFC-0111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Azure 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Okta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AWS IAM/Cognito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Purpose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AI agent authorization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Enterprise SSO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User identity management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AWS resource control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PoA Support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Native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No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Authorization Depth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3+ levels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1-2 levels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1-2 levels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1-2 levels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Legal Validation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Commercial register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No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EU Compliance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eIDAS, GDPR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GDPR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GDPR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GDPR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Setup Complexity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 (8 steps)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Medium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Best For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AI with legal authority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Microsoft shops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SaaS SSO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AWS ecosystems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When to Choose GAuth</a:t>
            </a:r>
          </a:p>
          <a:p>
            <a:pPr lvl="0" indent="0" marL="0">
              <a:buNone/>
            </a:pPr>
            <a:r>
              <a:rPr b="1"/>
              <a:t>✅ Choose GAuth RFC-0111 When:</a:t>
            </a:r>
          </a:p>
          <a:p>
            <a:pPr lvl="0" indent="-342900" marL="342900">
              <a:buAutoNum type="arabicPeriod"/>
            </a:pPr>
            <a:r>
              <a:rPr b="1"/>
              <a:t>AI agents need legal authorization</a:t>
            </a:r>
          </a:p>
          <a:p>
            <a:pPr lvl="1"/>
            <a:r>
              <a:rPr/>
              <a:t>Autonomous AI systems acting on behalf of legal entities</a:t>
            </a:r>
          </a:p>
          <a:p>
            <a:pPr lvl="1"/>
            <a:r>
              <a:rPr/>
              <a:t>Require proof of statutory authority</a:t>
            </a:r>
          </a:p>
          <a:p>
            <a:pPr lvl="0" indent="-342900" marL="342900">
              <a:buAutoNum type="arabicPeriod"/>
            </a:pPr>
            <a:r>
              <a:rPr b="1"/>
              <a:t>Power of Attorney validation required</a:t>
            </a:r>
          </a:p>
          <a:p>
            <a:pPr lvl="1"/>
            <a:r>
              <a:rPr/>
              <a:t>Healthcare scenarios (patient → guardian → AI)</a:t>
            </a:r>
          </a:p>
          <a:p>
            <a:pPr lvl="1"/>
            <a:r>
              <a:rPr/>
              <a:t>Financial services (client → advisor → AI)</a:t>
            </a:r>
          </a:p>
          <a:p>
            <a:pPr lvl="1"/>
            <a:r>
              <a:rPr/>
              <a:t>Corporate scenarios (owner → representative → AI)</a:t>
            </a:r>
          </a:p>
          <a:p>
            <a:pPr lvl="0" indent="-342900" marL="342900">
              <a:buAutoNum type="arabicPeriod"/>
            </a:pPr>
            <a:r>
              <a:rPr b="1"/>
              <a:t>Multi-party authorization chains (3+ levels)</a:t>
            </a:r>
          </a:p>
          <a:p>
            <a:pPr lvl="1"/>
            <a:r>
              <a:rPr/>
              <a:t>Complex corporate hierarchies</a:t>
            </a:r>
          </a:p>
          <a:p>
            <a:pPr lvl="1"/>
            <a:r>
              <a:rPr/>
              <a:t>Delegation through multiple legal entities</a:t>
            </a:r>
          </a:p>
          <a:p>
            <a:pPr lvl="1"/>
            <a:r>
              <a:rPr/>
              <a:t>Chain-of-custody requirements</a:t>
            </a:r>
          </a:p>
          <a:p>
            <a:pPr lvl="0" indent="-342900" marL="342900">
              <a:buAutoNum type="arabicPeriod"/>
            </a:pPr>
            <a:r>
              <a:rPr b="1"/>
              <a:t>EU regulatory compliance critical</a:t>
            </a:r>
          </a:p>
          <a:p>
            <a:pPr lvl="1"/>
            <a:r>
              <a:rPr/>
              <a:t>eIDAS identity verification</a:t>
            </a:r>
          </a:p>
          <a:p>
            <a:pPr lvl="1"/>
            <a:r>
              <a:rPr/>
              <a:t>Commercial register integration</a:t>
            </a:r>
          </a:p>
          <a:p>
            <a:pPr lvl="1"/>
            <a:r>
              <a:rPr/>
              <a:t>GDPR-compliant delegation</a:t>
            </a:r>
          </a:p>
          <a:p>
            <a:pPr lvl="0" indent="-342900" marL="342900">
              <a:buAutoNum type="arabicPeriod"/>
            </a:pPr>
            <a:r>
              <a:rPr b="1"/>
              <a:t>Cross-border operations</a:t>
            </a:r>
          </a:p>
          <a:p>
            <a:pPr lvl="1"/>
            <a:r>
              <a:rPr/>
              <a:t>18-country identity verification</a:t>
            </a:r>
          </a:p>
          <a:p>
            <a:pPr lvl="1"/>
            <a:r>
              <a:rPr/>
              <a:t>Jurisdiction-aware authorization</a:t>
            </a:r>
          </a:p>
          <a:p>
            <a:pPr lvl="1"/>
            <a:r>
              <a:rPr/>
              <a:t>Geographic scope enforcement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When to Choose Alternatives</a:t>
            </a:r>
          </a:p>
          <a:p>
            <a:pPr lvl="0" indent="0" marL="0">
              <a:buNone/>
            </a:pPr>
            <a:r>
              <a:rPr b="1"/>
              <a:t>Azure AD/Entra:</a:t>
            </a:r>
            <a:r>
              <a:rPr/>
              <a:t> - ✅ Microsoft 365 ecosystem - ✅ Enterprise employee SSO - ✅ Conditional access policies - ✅ Standard RBAC sufficient</a:t>
            </a:r>
          </a:p>
          <a:p>
            <a:pPr lvl="0" indent="0" marL="0">
              <a:buNone/>
            </a:pPr>
            <a:r>
              <a:rPr b="1"/>
              <a:t>Okta:</a:t>
            </a:r>
            <a:r>
              <a:rPr/>
              <a:t> - ✅ 7,000+ pre-built app connectors - ✅ SaaS application SSO - ✅ User lifecycle automation - ✅ Adaptive MFA for workforce</a:t>
            </a:r>
          </a:p>
          <a:p>
            <a:pPr lvl="0" indent="0" marL="0">
              <a:buNone/>
            </a:pPr>
            <a:r>
              <a:rPr b="1"/>
              <a:t>AWS IAM/Cognito:</a:t>
            </a:r>
            <a:r>
              <a:rPr/>
              <a:t> - ✅ AWS-native applications - ✅ S3, Lambda, DynamoDB access - ✅ Web/mobile user authentication - ✅ AWS service-to-service authorization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GAuth Implementation Status</a:t>
            </a:r>
          </a:p>
          <a:p>
            <a:pPr lvl="0" indent="0" marL="0">
              <a:buNone/>
            </a:pPr>
            <a:r>
              <a:rPr b="1"/>
              <a:t>Current State (November 16, 2025):</a:t>
            </a:r>
          </a:p>
          <a:p>
            <a:pPr lvl="0"/>
            <a:r>
              <a:rPr/>
              <a:t>✅ </a:t>
            </a:r>
            <a:r>
              <a:rPr b="1"/>
              <a:t>8/8 Subscription Steps</a:t>
            </a:r>
            <a:r>
              <a:rPr/>
              <a:t> (Steps I-VIII) fully implemented</a:t>
            </a:r>
          </a:p>
          <a:p>
            <a:pPr lvl="0"/>
            <a:r>
              <a:rPr/>
              <a:t>✅ </a:t>
            </a:r>
            <a:r>
              <a:rPr b="1"/>
              <a:t>9/9 Authorization Steps</a:t>
            </a:r>
            <a:r>
              <a:rPr/>
              <a:t> (Steps a-i) fully implemented</a:t>
            </a:r>
          </a:p>
          <a:p>
            <a:pPr lvl="0"/>
            <a:r>
              <a:rPr/>
              <a:t>✅ </a:t>
            </a:r>
            <a:r>
              <a:rPr b="1"/>
              <a:t>18-Country Identity Connectors</a:t>
            </a:r>
            <a:r>
              <a:rPr/>
              <a:t> (8,478 lines of code)</a:t>
            </a:r>
          </a:p>
          <a:p>
            <a:pPr lvl="0"/>
            <a:r>
              <a:rPr/>
              <a:t>✅ </a:t>
            </a:r>
            <a:r>
              <a:rPr b="1"/>
              <a:t>Geographic Scope Validation</a:t>
            </a:r>
            <a:r>
              <a:rPr/>
              <a:t> (HIGH vulnerability fixed)</a:t>
            </a:r>
          </a:p>
          <a:p>
            <a:pPr lvl="0"/>
            <a:r>
              <a:rPr/>
              <a:t>✅ </a:t>
            </a:r>
            <a:r>
              <a:rPr b="1"/>
              <a:t>Production Infrastructure</a:t>
            </a:r>
            <a:r>
              <a:rPr/>
              <a:t> (Docker, Kubernetes, monitoring)</a:t>
            </a:r>
          </a:p>
          <a:p>
            <a:pPr lvl="0"/>
            <a:r>
              <a:rPr/>
              <a:t>✅ </a:t>
            </a:r>
            <a:r>
              <a:rPr b="1"/>
              <a:t>Comprehensive Testing</a:t>
            </a:r>
            <a:r>
              <a:rPr/>
              <a:t> (49.2% coverage, 38/38 integration tests)</a:t>
            </a:r>
          </a:p>
          <a:p>
            <a:pPr lvl="0" indent="0" marL="0">
              <a:buNone/>
            </a:pPr>
            <a:r>
              <a:rPr b="1"/>
              <a:t>Production Readiness: 95%</a:t>
            </a:r>
          </a:p>
        </p:txBody>
      </p:sp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Next Steps</a:t>
            </a:r>
          </a:p>
          <a:p>
            <a:pPr lvl="0" indent="0" marL="0">
              <a:buNone/>
            </a:pPr>
            <a:r>
              <a:rPr b="1"/>
              <a:t>For Stakeholders:</a:t>
            </a:r>
            <a:r>
              <a:rPr/>
              <a:t> 1. Review RFC-0111 specification alignment 2. Evaluate use cases requiring PoA validation 3. Assess EU regulatory compliance needs 4. Determine deployment environment (staging/production)</a:t>
            </a:r>
          </a:p>
          <a:p>
            <a:pPr lvl="0" indent="0" marL="0">
              <a:buNone/>
            </a:pPr>
            <a:r>
              <a:rPr b="1"/>
              <a:t>For Technical Teams:</a:t>
            </a:r>
            <a:r>
              <a:rPr/>
              <a:t> 1. Obtain Persona/Trulioo sandbox API keys 2. Complete MCP SSE transport race condition fix 3. Expand integration test coverage 4. Update implementation status documentation</a:t>
            </a:r>
          </a:p>
          <a:p>
            <a:pPr lvl="0" indent="0" marL="0">
              <a:buNone/>
            </a:pPr>
            <a:r>
              <a:rPr b="1"/>
              <a:t>For Business Development:</a:t>
            </a:r>
            <a:r>
              <a:rPr/>
              <a:t> 1. Identify target verticals (healthcare, finance, legal) 2. Position GAuth as specialized AI authorization platform 3. Develop case studies for AI agent delegation scenarios 4. Partner with commercial register providers</a:t>
            </a:r>
          </a:p>
        </p:txBody>
      </p:sp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Contact &amp;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Repository:</a:t>
            </a:r>
            <a:r>
              <a:rPr/>
              <a:t> </a:t>
            </a:r>
            <a:r>
              <a:rPr>
                <a:hlinkClick r:id="rId2"/>
              </a:rPr>
              <a:t>github.com/mauriciomferz/Gauth_go</a:t>
            </a:r>
          </a:p>
          <a:p>
            <a:pPr lvl="0" indent="0" marL="0">
              <a:buNone/>
            </a:pPr>
            <a:r>
              <a:rPr b="1"/>
              <a:t>Documentation:</a:t>
            </a:r>
            <a:r>
              <a:rPr/>
              <a:t> - </a:t>
            </a:r>
            <a:r>
              <a:rPr>
                <a:latin typeface="Courier"/>
              </a:rPr>
              <a:t>IMPLEMENTATION_STATUS.md</a:t>
            </a:r>
            <a:r>
              <a:rPr/>
              <a:t> - Current implementation state - </a:t>
            </a:r>
            <a:r>
              <a:rPr>
                <a:latin typeface="Courier"/>
              </a:rPr>
              <a:t>docs/RFC0111_README.md</a:t>
            </a:r>
            <a:r>
              <a:rPr/>
              <a:t> - RFC-0111 guide - </a:t>
            </a:r>
            <a:r>
              <a:rPr>
                <a:latin typeface="Courier"/>
              </a:rPr>
              <a:t>DEPLOYMENT_GUIDE.md</a:t>
            </a:r>
            <a:r>
              <a:rPr/>
              <a:t> - Production deployment - </a:t>
            </a:r>
            <a:r>
              <a:rPr>
                <a:latin typeface="Courier"/>
              </a:rPr>
              <a:t>API_KEYS_GUIDE.md</a:t>
            </a:r>
            <a:r>
              <a:rPr/>
              <a:t> - Provider setup</a:t>
            </a:r>
          </a:p>
          <a:p>
            <a:pPr lvl="0" indent="0" marL="0">
              <a:buNone/>
            </a:pPr>
            <a:r>
              <a:rPr b="1"/>
              <a:t>Technical Support:</a:t>
            </a:r>
            <a:r>
              <a:rPr/>
              <a:t> - Mauricio Fernandez - mauriciomferz@gmail.com</a:t>
            </a:r>
          </a:p>
          <a:p>
            <a:pPr lvl="0" indent="0" marL="0">
              <a:buNone/>
            </a:pPr>
            <a:r>
              <a:rPr b="1"/>
              <a:t>Version:</a:t>
            </a:r>
            <a:r>
              <a:rPr/>
              <a:t> GAuth 1.0 (RFC-0150 Implementation)</a:t>
            </a:r>
            <a:br/>
            <a:r>
              <a:rPr b="1"/>
              <a:t>Last Updated:</a:t>
            </a:r>
            <a:r>
              <a:rPr/>
              <a:t> November 16, 2025</a:t>
            </a:r>
          </a:p>
        </p:txBody>
      </p:sp>
    </p:spTree>
  </p:cSld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Thank You</a:t>
            </a:r>
          </a:p>
        </p:txBody>
      </p:sp>
    </p:spTree>
  </p:cSld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Questions?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2025-11-16T22:46:39Z</dcterms:created>
  <dcterms:modified xsi:type="dcterms:W3CDTF">2025-11-16T22:46:39Z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